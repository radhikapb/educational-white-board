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7" r:id="rId6"/>
    <p:sldId id="263" r:id="rId7"/>
    <p:sldId id="264" r:id="rId8"/>
    <p:sldId id="259" r:id="rId9"/>
    <p:sldId id="261" r:id="rId10"/>
    <p:sldId id="260" r:id="rId11"/>
    <p:sldId id="265" r:id="rId12"/>
    <p:sldId id="268" r:id="rId13"/>
    <p:sldId id="269" r:id="rId14"/>
    <p:sldId id="270" r:id="rId15"/>
    <p:sldId id="271" r:id="rId16"/>
    <p:sldId id="272" r:id="rId17"/>
    <p:sldId id="273" r:id="rId18"/>
    <p:sldId id="275" r:id="rId19"/>
    <p:sldId id="274" r:id="rId20"/>
    <p:sldId id="276" r:id="rId21"/>
    <p:sldId id="281" r:id="rId22"/>
    <p:sldId id="277" r:id="rId23"/>
    <p:sldId id="280" r:id="rId24"/>
    <p:sldId id="278" r:id="rId25"/>
    <p:sldId id="279" r:id="rId26"/>
    <p:sldId id="282" r:id="rId27"/>
    <p:sldId id="283" r:id="rId28"/>
    <p:sldId id="284" r:id="rId29"/>
    <p:sldId id="285" r:id="rId30"/>
    <p:sldId id="286" r:id="rId31"/>
    <p:sldId id="287" r:id="rId32"/>
    <p:sldId id="288" r:id="rId33"/>
    <p:sldId id="290" r:id="rId34"/>
    <p:sldId id="289" r:id="rId35"/>
    <p:sldId id="291" r:id="rId36"/>
    <p:sldId id="294" r:id="rId37"/>
    <p:sldId id="293" r:id="rId38"/>
    <p:sldId id="292" r:id="rId39"/>
    <p:sldId id="295" r:id="rId40"/>
    <p:sldId id="296" r:id="rId41"/>
    <p:sldId id="297" r:id="rId42"/>
    <p:sldId id="298" r:id="rId43"/>
    <p:sldId id="299" r:id="rId44"/>
    <p:sldId id="300" r:id="rId45"/>
    <p:sldId id="301"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1D8BD707-D9CF-40AE-B4C6-C98DA3205C09}" type="datetimeFigureOut">
              <a:rPr lang="en-US" smtClean="0"/>
              <a:pPr/>
              <a:t>5/23/2013</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dirty="0"/>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1D8BD707-D9CF-40AE-B4C6-C98DA3205C09}" type="datetimeFigureOut">
              <a:rPr lang="en-US" smtClean="0"/>
              <a:pPr/>
              <a:t>5/23/2013</a:t>
            </a:fld>
            <a:endParaRPr lang="en-US" dirty="0"/>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Educational White Board</a:t>
            </a:r>
            <a:endParaRPr lang="en-IN" dirty="0"/>
          </a:p>
        </p:txBody>
      </p:sp>
      <p:sp>
        <p:nvSpPr>
          <p:cNvPr id="3" name="Subtitle 2"/>
          <p:cNvSpPr>
            <a:spLocks noGrp="1"/>
          </p:cNvSpPr>
          <p:nvPr>
            <p:ph type="subTitle" idx="1"/>
          </p:nvPr>
        </p:nvSpPr>
        <p:spPr/>
        <p:txBody>
          <a:bodyPr>
            <a:normAutofit lnSpcReduction="10000"/>
          </a:bodyPr>
          <a:lstStyle/>
          <a:p>
            <a:pPr algn="l"/>
            <a:r>
              <a:rPr lang="en-US" b="1" dirty="0" smtClean="0"/>
              <a:t>By:</a:t>
            </a:r>
          </a:p>
          <a:p>
            <a:pPr lvl="0" algn="l">
              <a:buClr>
                <a:srgbClr val="873624"/>
              </a:buClr>
            </a:pPr>
            <a:r>
              <a:rPr lang="en-US" dirty="0">
                <a:solidFill>
                  <a:prstClr val="white"/>
                </a:solidFill>
              </a:rPr>
              <a:t>Priyank P. </a:t>
            </a:r>
            <a:r>
              <a:rPr lang="en-US" dirty="0" smtClean="0">
                <a:solidFill>
                  <a:prstClr val="white"/>
                </a:solidFill>
              </a:rPr>
              <a:t>Bambharolia	(090280107036)</a:t>
            </a:r>
            <a:endParaRPr lang="en-US" dirty="0">
              <a:solidFill>
                <a:prstClr val="white"/>
              </a:solidFill>
            </a:endParaRPr>
          </a:p>
          <a:p>
            <a:pPr lvl="0" algn="l"/>
            <a:r>
              <a:rPr lang="en-US" dirty="0" smtClean="0"/>
              <a:t>Radhika J. Thumar		</a:t>
            </a:r>
            <a:r>
              <a:rPr lang="en-US" dirty="0">
                <a:solidFill>
                  <a:prstClr val="white"/>
                </a:solidFill>
              </a:rPr>
              <a:t>(</a:t>
            </a:r>
            <a:r>
              <a:rPr lang="en-US" dirty="0" smtClean="0">
                <a:solidFill>
                  <a:prstClr val="white"/>
                </a:solidFill>
              </a:rPr>
              <a:t>090280107056)</a:t>
            </a:r>
            <a:endParaRPr lang="en-US" dirty="0" smtClean="0"/>
          </a:p>
          <a:p>
            <a:pPr lvl="0" algn="l"/>
            <a:r>
              <a:rPr lang="en-US" smtClean="0"/>
              <a:t>Shraddha </a:t>
            </a:r>
            <a:r>
              <a:rPr lang="en-US" dirty="0"/>
              <a:t>A. </a:t>
            </a:r>
            <a:r>
              <a:rPr lang="en-US" dirty="0" smtClean="0"/>
              <a:t>Padariya	</a:t>
            </a:r>
            <a:r>
              <a:rPr lang="en-US" dirty="0">
                <a:solidFill>
                  <a:prstClr val="white"/>
                </a:solidFill>
              </a:rPr>
              <a:t>(</a:t>
            </a:r>
            <a:r>
              <a:rPr lang="en-US" dirty="0" smtClean="0">
                <a:solidFill>
                  <a:prstClr val="white"/>
                </a:solidFill>
              </a:rPr>
              <a:t>090280107013)</a:t>
            </a:r>
            <a:endParaRPr lang="en-US" dirty="0">
              <a:solidFill>
                <a:prstClr val="white"/>
              </a:solidFill>
            </a:endParaRPr>
          </a:p>
        </p:txBody>
      </p:sp>
    </p:spTree>
    <p:extLst>
      <p:ext uri="{BB962C8B-B14F-4D97-AF65-F5344CB8AC3E}">
        <p14:creationId xmlns:p14="http://schemas.microsoft.com/office/powerpoint/2010/main" val="280924729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r>
              <a:rPr lang="en-IN" dirty="0"/>
              <a:t>Presently teaching is done by black or white board by professor or tutor. </a:t>
            </a:r>
          </a:p>
          <a:p>
            <a:pPr algn="just"/>
            <a:r>
              <a:rPr lang="en-IN" dirty="0" smtClean="0"/>
              <a:t>If </a:t>
            </a:r>
            <a:r>
              <a:rPr lang="en-IN" dirty="0"/>
              <a:t>class is large than it is possible that students sitting at the last rows can’t see content of board. Classroom capacity is also a constraint. If the strength of students increases than the classroom capacity then professor is not able to manage the lecture.</a:t>
            </a:r>
          </a:p>
          <a:p>
            <a:pPr algn="just"/>
            <a:r>
              <a:rPr lang="en-IN" dirty="0" smtClean="0"/>
              <a:t>Mostly </a:t>
            </a:r>
            <a:r>
              <a:rPr lang="en-IN" dirty="0"/>
              <a:t>students who are far from the board cannot see the diagrams clearly</a:t>
            </a:r>
            <a:r>
              <a:rPr lang="en-IN" dirty="0" smtClean="0"/>
              <a:t>.</a:t>
            </a:r>
            <a:endParaRPr lang="en-IN" dirty="0"/>
          </a:p>
        </p:txBody>
      </p:sp>
      <p:sp>
        <p:nvSpPr>
          <p:cNvPr id="3" name="Title 2"/>
          <p:cNvSpPr>
            <a:spLocks noGrp="1"/>
          </p:cNvSpPr>
          <p:nvPr>
            <p:ph type="title"/>
          </p:nvPr>
        </p:nvSpPr>
        <p:spPr/>
        <p:txBody>
          <a:bodyPr/>
          <a:lstStyle/>
          <a:p>
            <a:r>
              <a:rPr lang="en-US" dirty="0" smtClean="0"/>
              <a:t>Project Need &amp; Idea</a:t>
            </a:r>
            <a:endParaRPr lang="en-IN" dirty="0"/>
          </a:p>
        </p:txBody>
      </p:sp>
    </p:spTree>
    <p:extLst>
      <p:ext uri="{BB962C8B-B14F-4D97-AF65-F5344CB8AC3E}">
        <p14:creationId xmlns:p14="http://schemas.microsoft.com/office/powerpoint/2010/main" val="54783319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lgn="just"/>
            <a:r>
              <a:rPr lang="en-IN" b="1" dirty="0"/>
              <a:t>EDUCATIONAL WHITE BOARD</a:t>
            </a:r>
            <a:r>
              <a:rPr lang="en-IN" dirty="0"/>
              <a:t> provides solution for this problem. By using this system a student can see the diagram which is drawn by the teacher right on their computer screens. System also creates an environment in which students can gain knowledge easily.</a:t>
            </a:r>
          </a:p>
          <a:p>
            <a:pPr lvl="0" algn="just"/>
            <a:r>
              <a:rPr lang="en-IN" dirty="0"/>
              <a:t>A student can also save the diagram for future reference</a:t>
            </a:r>
          </a:p>
          <a:p>
            <a:pPr marL="0" indent="0" algn="just">
              <a:buNone/>
            </a:pPr>
            <a:endParaRPr lang="en-IN" dirty="0"/>
          </a:p>
          <a:p>
            <a:pPr algn="just"/>
            <a:endParaRPr lang="en-IN" dirty="0"/>
          </a:p>
        </p:txBody>
      </p:sp>
      <p:sp>
        <p:nvSpPr>
          <p:cNvPr id="3" name="Title 2"/>
          <p:cNvSpPr>
            <a:spLocks noGrp="1"/>
          </p:cNvSpPr>
          <p:nvPr>
            <p:ph type="title"/>
          </p:nvPr>
        </p:nvSpPr>
        <p:spPr/>
        <p:txBody>
          <a:bodyPr/>
          <a:lstStyle/>
          <a:p>
            <a:r>
              <a:rPr lang="en-US" dirty="0"/>
              <a:t>Project Need &amp; Idea</a:t>
            </a:r>
            <a:endParaRPr lang="en-IN" dirty="0"/>
          </a:p>
        </p:txBody>
      </p:sp>
    </p:spTree>
    <p:extLst>
      <p:ext uri="{BB962C8B-B14F-4D97-AF65-F5344CB8AC3E}">
        <p14:creationId xmlns:p14="http://schemas.microsoft.com/office/powerpoint/2010/main" val="215216233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IN" dirty="0"/>
              <a:t>The EDUCATIONAL WHITE BOARD creates a virtual “white board” where a teacher can draw the diagrams on his/her computer and students can see them in their own computers easily and reliably.</a:t>
            </a:r>
          </a:p>
          <a:p>
            <a:pPr algn="just"/>
            <a:r>
              <a:rPr lang="en-IN" dirty="0"/>
              <a:t>This System is designed in such a way that the student i.e. client can log on in the server. Teacher can send text files to students, too.  I.e. Clients have his or her own login name and password, which help them to get connected with the server. </a:t>
            </a:r>
          </a:p>
          <a:p>
            <a:pPr algn="just"/>
            <a:endParaRPr lang="en-IN" dirty="0"/>
          </a:p>
        </p:txBody>
      </p:sp>
      <p:sp>
        <p:nvSpPr>
          <p:cNvPr id="3" name="Title 2"/>
          <p:cNvSpPr>
            <a:spLocks noGrp="1"/>
          </p:cNvSpPr>
          <p:nvPr>
            <p:ph type="title"/>
          </p:nvPr>
        </p:nvSpPr>
        <p:spPr/>
        <p:txBody>
          <a:bodyPr/>
          <a:lstStyle/>
          <a:p>
            <a:r>
              <a:rPr lang="en-US" dirty="0" smtClean="0"/>
              <a:t>System Description</a:t>
            </a:r>
            <a:endParaRPr lang="en-IN" dirty="0"/>
          </a:p>
        </p:txBody>
      </p:sp>
    </p:spTree>
    <p:extLst>
      <p:ext uri="{BB962C8B-B14F-4D97-AF65-F5344CB8AC3E}">
        <p14:creationId xmlns:p14="http://schemas.microsoft.com/office/powerpoint/2010/main" val="161271618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lvl="0" algn="just"/>
            <a:r>
              <a:rPr lang="en-IN" dirty="0"/>
              <a:t>To </a:t>
            </a:r>
            <a:r>
              <a:rPr lang="en-IN" b="1" dirty="0"/>
              <a:t>support live on-line classes </a:t>
            </a:r>
            <a:r>
              <a:rPr lang="en-IN" dirty="0"/>
              <a:t>for distance learning and remote education.</a:t>
            </a:r>
          </a:p>
          <a:p>
            <a:pPr lvl="0" algn="just"/>
            <a:r>
              <a:rPr lang="en-IN" dirty="0"/>
              <a:t>To </a:t>
            </a:r>
            <a:r>
              <a:rPr lang="en-IN" b="1" dirty="0"/>
              <a:t>pool academic resources </a:t>
            </a:r>
            <a:r>
              <a:rPr lang="en-IN" dirty="0"/>
              <a:t>there by improving access to advanced educational experiences.</a:t>
            </a:r>
          </a:p>
          <a:p>
            <a:pPr lvl="0" algn="just"/>
            <a:r>
              <a:rPr lang="en-IN" dirty="0"/>
              <a:t>To </a:t>
            </a:r>
            <a:r>
              <a:rPr lang="en-IN" b="1" dirty="0"/>
              <a:t>improve the quality and effectiveness of education </a:t>
            </a:r>
            <a:r>
              <a:rPr lang="en-IN" dirty="0"/>
              <a:t>by collaborative learning and teaching process.</a:t>
            </a:r>
          </a:p>
          <a:p>
            <a:pPr lvl="0" algn="just"/>
            <a:r>
              <a:rPr lang="en-IN" dirty="0"/>
              <a:t>To </a:t>
            </a:r>
            <a:r>
              <a:rPr lang="en-IN" b="1" dirty="0"/>
              <a:t>increase and improve </a:t>
            </a:r>
            <a:r>
              <a:rPr lang="en-IN" dirty="0"/>
              <a:t>the accessibility of educational resources to the </a:t>
            </a:r>
            <a:r>
              <a:rPr lang="en-IN" b="1" dirty="0"/>
              <a:t>persons with disabilities.</a:t>
            </a:r>
            <a:endParaRPr lang="en-IN" dirty="0"/>
          </a:p>
          <a:p>
            <a:pPr algn="just"/>
            <a:endParaRPr lang="en-IN" dirty="0"/>
          </a:p>
        </p:txBody>
      </p:sp>
      <p:sp>
        <p:nvSpPr>
          <p:cNvPr id="3" name="Title 2"/>
          <p:cNvSpPr>
            <a:spLocks noGrp="1"/>
          </p:cNvSpPr>
          <p:nvPr>
            <p:ph type="title"/>
          </p:nvPr>
        </p:nvSpPr>
        <p:spPr>
          <a:xfrm>
            <a:off x="685800" y="381000"/>
            <a:ext cx="7756263" cy="1054250"/>
          </a:xfrm>
        </p:spPr>
        <p:txBody>
          <a:bodyPr/>
          <a:lstStyle/>
          <a:p>
            <a:r>
              <a:rPr lang="en-US" dirty="0" smtClean="0"/>
              <a:t>Goals Of Implementation</a:t>
            </a:r>
            <a:endParaRPr lang="en-IN" dirty="0"/>
          </a:p>
        </p:txBody>
      </p:sp>
    </p:spTree>
    <p:extLst>
      <p:ext uri="{BB962C8B-B14F-4D97-AF65-F5344CB8AC3E}">
        <p14:creationId xmlns:p14="http://schemas.microsoft.com/office/powerpoint/2010/main" val="406087345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2362200"/>
            <a:ext cx="7745505" cy="3535362"/>
          </a:xfrm>
        </p:spPr>
        <p:txBody>
          <a:bodyPr>
            <a:normAutofit fontScale="92500" lnSpcReduction="10000"/>
          </a:bodyPr>
          <a:lstStyle/>
          <a:p>
            <a:pPr marL="0" lvl="0" indent="0" algn="just">
              <a:buNone/>
            </a:pPr>
            <a:r>
              <a:rPr lang="en-IN" sz="3000" b="1" i="1" dirty="0" smtClean="0"/>
              <a:t>Hardware</a:t>
            </a:r>
            <a:r>
              <a:rPr lang="en-IN" b="1" i="1" dirty="0" smtClean="0"/>
              <a:t>:</a:t>
            </a:r>
          </a:p>
          <a:p>
            <a:pPr lvl="0" algn="just"/>
            <a:endParaRPr lang="en-IN" dirty="0"/>
          </a:p>
          <a:p>
            <a:pPr lvl="0" algn="just"/>
            <a:r>
              <a:rPr lang="en-IN" b="1" dirty="0"/>
              <a:t>Server side:</a:t>
            </a:r>
            <a:endParaRPr lang="en-IN" dirty="0"/>
          </a:p>
          <a:p>
            <a:pPr lvl="0" algn="just"/>
            <a:r>
              <a:rPr lang="en-IN" dirty="0"/>
              <a:t>i 3 processor or above it</a:t>
            </a:r>
          </a:p>
          <a:p>
            <a:pPr lvl="0" algn="just"/>
            <a:r>
              <a:rPr lang="en-IN" dirty="0"/>
              <a:t>4GB RAM </a:t>
            </a:r>
          </a:p>
          <a:p>
            <a:pPr marL="0" indent="0" algn="just">
              <a:buNone/>
            </a:pPr>
            <a:endParaRPr lang="en-IN" dirty="0"/>
          </a:p>
          <a:p>
            <a:pPr lvl="0" algn="just"/>
            <a:r>
              <a:rPr lang="en-IN" b="1" dirty="0"/>
              <a:t>Client side:</a:t>
            </a:r>
            <a:endParaRPr lang="en-IN" dirty="0"/>
          </a:p>
          <a:p>
            <a:pPr lvl="0" algn="just"/>
            <a:r>
              <a:rPr lang="en-IN" dirty="0"/>
              <a:t>Core 2 duo or above it</a:t>
            </a:r>
          </a:p>
          <a:p>
            <a:pPr lvl="0" algn="just"/>
            <a:r>
              <a:rPr lang="en-IN" dirty="0"/>
              <a:t>1 GB RAM</a:t>
            </a:r>
          </a:p>
          <a:p>
            <a:pPr algn="just"/>
            <a:endParaRPr lang="en-IN" dirty="0"/>
          </a:p>
        </p:txBody>
      </p:sp>
      <p:sp>
        <p:nvSpPr>
          <p:cNvPr id="3" name="Title 2"/>
          <p:cNvSpPr>
            <a:spLocks noGrp="1"/>
          </p:cNvSpPr>
          <p:nvPr>
            <p:ph type="title"/>
          </p:nvPr>
        </p:nvSpPr>
        <p:spPr>
          <a:xfrm>
            <a:off x="685800" y="381000"/>
            <a:ext cx="7756263" cy="1054250"/>
          </a:xfrm>
        </p:spPr>
        <p:txBody>
          <a:bodyPr/>
          <a:lstStyle/>
          <a:p>
            <a:r>
              <a:rPr lang="en-US" dirty="0" smtClean="0"/>
              <a:t>Environmental Characteristics</a:t>
            </a:r>
            <a:endParaRPr lang="en-IN" dirty="0"/>
          </a:p>
        </p:txBody>
      </p:sp>
    </p:spTree>
    <p:extLst>
      <p:ext uri="{BB962C8B-B14F-4D97-AF65-F5344CB8AC3E}">
        <p14:creationId xmlns:p14="http://schemas.microsoft.com/office/powerpoint/2010/main" val="392107734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lvl="0" indent="0" algn="just">
              <a:buNone/>
            </a:pPr>
            <a:r>
              <a:rPr lang="en-IN" sz="3000" b="1" i="1" dirty="0"/>
              <a:t>Software </a:t>
            </a:r>
            <a:r>
              <a:rPr lang="en-IN" sz="3000" b="1" i="1" dirty="0" smtClean="0"/>
              <a:t>:</a:t>
            </a:r>
          </a:p>
          <a:p>
            <a:pPr lvl="0" algn="just"/>
            <a:endParaRPr lang="en-IN" dirty="0"/>
          </a:p>
          <a:p>
            <a:pPr lvl="0" algn="just"/>
            <a:r>
              <a:rPr lang="en-IN" b="1" dirty="0"/>
              <a:t>Server side :</a:t>
            </a:r>
            <a:endParaRPr lang="en-IN" dirty="0"/>
          </a:p>
          <a:p>
            <a:pPr lvl="0" algn="just"/>
            <a:r>
              <a:rPr lang="en-IN" dirty="0"/>
              <a:t>Windows </a:t>
            </a:r>
            <a:r>
              <a:rPr lang="en-IN" dirty="0" smtClean="0"/>
              <a:t>7 (Recommended)</a:t>
            </a:r>
            <a:endParaRPr lang="en-IN" dirty="0"/>
          </a:p>
          <a:p>
            <a:pPr lvl="0" algn="just"/>
            <a:r>
              <a:rPr lang="en-IN" dirty="0"/>
              <a:t>MS SQL server</a:t>
            </a:r>
          </a:p>
          <a:p>
            <a:pPr algn="just"/>
            <a:endParaRPr lang="en-IN" dirty="0"/>
          </a:p>
          <a:p>
            <a:pPr lvl="0" algn="just"/>
            <a:r>
              <a:rPr lang="en-IN" b="1" dirty="0"/>
              <a:t>Client side :</a:t>
            </a:r>
            <a:endParaRPr lang="en-IN" dirty="0"/>
          </a:p>
          <a:p>
            <a:pPr lvl="0" algn="just"/>
            <a:r>
              <a:rPr lang="en-IN" dirty="0"/>
              <a:t>Windows XP or above</a:t>
            </a:r>
          </a:p>
          <a:p>
            <a:pPr lvl="0" algn="just"/>
            <a:endParaRPr lang="en-IN" dirty="0"/>
          </a:p>
          <a:p>
            <a:pPr algn="just"/>
            <a:endParaRPr lang="en-IN" dirty="0"/>
          </a:p>
        </p:txBody>
      </p:sp>
      <p:sp>
        <p:nvSpPr>
          <p:cNvPr id="3" name="Title 2"/>
          <p:cNvSpPr>
            <a:spLocks noGrp="1"/>
          </p:cNvSpPr>
          <p:nvPr>
            <p:ph type="title"/>
          </p:nvPr>
        </p:nvSpPr>
        <p:spPr/>
        <p:txBody>
          <a:bodyPr/>
          <a:lstStyle/>
          <a:p>
            <a:r>
              <a:rPr lang="en-US" dirty="0"/>
              <a:t>Environmental Characteristics</a:t>
            </a:r>
            <a:endParaRPr lang="en-IN" dirty="0"/>
          </a:p>
        </p:txBody>
      </p:sp>
    </p:spTree>
    <p:extLst>
      <p:ext uri="{BB962C8B-B14F-4D97-AF65-F5344CB8AC3E}">
        <p14:creationId xmlns:p14="http://schemas.microsoft.com/office/powerpoint/2010/main" val="177878459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IN" sz="2800" b="1" u="sng" dirty="0"/>
              <a:t>Front </a:t>
            </a:r>
            <a:r>
              <a:rPr lang="en-IN" sz="2800" b="1" u="sng" dirty="0" smtClean="0"/>
              <a:t>End</a:t>
            </a:r>
          </a:p>
          <a:p>
            <a:pPr marL="0" indent="0" algn="just">
              <a:buNone/>
            </a:pPr>
            <a:endParaRPr lang="en-IN" sz="2800" dirty="0"/>
          </a:p>
          <a:p>
            <a:pPr lvl="0" algn="just"/>
            <a:r>
              <a:rPr lang="en-IN" b="1" dirty="0"/>
              <a:t>Java SE</a:t>
            </a:r>
            <a:endParaRPr lang="en-IN" dirty="0"/>
          </a:p>
          <a:p>
            <a:pPr lvl="0" algn="just"/>
            <a:r>
              <a:rPr lang="en-IN" b="1" dirty="0"/>
              <a:t>Swing</a:t>
            </a:r>
            <a:endParaRPr lang="en-IN" dirty="0"/>
          </a:p>
          <a:p>
            <a:pPr lvl="0" algn="just"/>
            <a:r>
              <a:rPr lang="en-IN" b="1" dirty="0"/>
              <a:t>RMI</a:t>
            </a:r>
            <a:endParaRPr lang="en-IN" dirty="0"/>
          </a:p>
          <a:p>
            <a:pPr lvl="0" algn="just"/>
            <a:r>
              <a:rPr lang="en-IN" b="1" dirty="0"/>
              <a:t>JDBC</a:t>
            </a:r>
            <a:endParaRPr lang="en-IN" dirty="0"/>
          </a:p>
          <a:p>
            <a:pPr lvl="0" algn="just"/>
            <a:r>
              <a:rPr lang="en-IN" b="1" dirty="0"/>
              <a:t>Socket Programming 				</a:t>
            </a:r>
            <a:endParaRPr lang="en-IN" dirty="0"/>
          </a:p>
          <a:p>
            <a:pPr algn="just"/>
            <a:endParaRPr lang="en-IN" dirty="0"/>
          </a:p>
        </p:txBody>
      </p:sp>
      <p:sp>
        <p:nvSpPr>
          <p:cNvPr id="3" name="Title 2"/>
          <p:cNvSpPr>
            <a:spLocks noGrp="1"/>
          </p:cNvSpPr>
          <p:nvPr>
            <p:ph type="title"/>
          </p:nvPr>
        </p:nvSpPr>
        <p:spPr/>
        <p:txBody>
          <a:bodyPr/>
          <a:lstStyle/>
          <a:p>
            <a:r>
              <a:rPr lang="en-US" dirty="0" smtClean="0"/>
              <a:t>Technology Used</a:t>
            </a:r>
            <a:endParaRPr lang="en-IN" dirty="0"/>
          </a:p>
        </p:txBody>
      </p:sp>
    </p:spTree>
    <p:extLst>
      <p:ext uri="{BB962C8B-B14F-4D97-AF65-F5344CB8AC3E}">
        <p14:creationId xmlns:p14="http://schemas.microsoft.com/office/powerpoint/2010/main" val="222385193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sz="2800" b="1" u="sng" dirty="0" smtClean="0"/>
              <a:t>Back end</a:t>
            </a:r>
          </a:p>
          <a:p>
            <a:pPr lvl="0"/>
            <a:r>
              <a:rPr lang="en-IN" b="1" dirty="0" smtClean="0"/>
              <a:t>My </a:t>
            </a:r>
            <a:r>
              <a:rPr lang="en-IN" b="1" dirty="0"/>
              <a:t>SQL</a:t>
            </a:r>
            <a:endParaRPr lang="en-IN" dirty="0"/>
          </a:p>
          <a:p>
            <a:pPr marL="0" indent="0">
              <a:buNone/>
            </a:pPr>
            <a:endParaRPr lang="en-US" dirty="0" smtClean="0"/>
          </a:p>
          <a:p>
            <a:pPr marL="0" indent="0">
              <a:buNone/>
            </a:pPr>
            <a:endParaRPr lang="en-IN" dirty="0"/>
          </a:p>
          <a:p>
            <a:pPr marL="0" lvl="0" indent="0">
              <a:buNone/>
            </a:pPr>
            <a:r>
              <a:rPr lang="en-IN" sz="2800" b="1" u="sng" dirty="0"/>
              <a:t>Tools</a:t>
            </a:r>
            <a:endParaRPr lang="en-IN" sz="2800" u="sng" dirty="0"/>
          </a:p>
          <a:p>
            <a:pPr lvl="0"/>
            <a:r>
              <a:rPr lang="en-IN" b="1" dirty="0"/>
              <a:t>NetBeans </a:t>
            </a:r>
            <a:endParaRPr lang="en-IN" dirty="0"/>
          </a:p>
          <a:p>
            <a:endParaRPr lang="en-IN" dirty="0"/>
          </a:p>
        </p:txBody>
      </p:sp>
      <p:sp>
        <p:nvSpPr>
          <p:cNvPr id="3" name="Title 2"/>
          <p:cNvSpPr>
            <a:spLocks noGrp="1"/>
          </p:cNvSpPr>
          <p:nvPr>
            <p:ph type="title"/>
          </p:nvPr>
        </p:nvSpPr>
        <p:spPr/>
        <p:txBody>
          <a:bodyPr/>
          <a:lstStyle/>
          <a:p>
            <a:r>
              <a:rPr lang="en-US" dirty="0"/>
              <a:t>Technology Used</a:t>
            </a:r>
            <a:endParaRPr lang="en-IN" dirty="0"/>
          </a:p>
        </p:txBody>
      </p:sp>
    </p:spTree>
    <p:extLst>
      <p:ext uri="{BB962C8B-B14F-4D97-AF65-F5344CB8AC3E}">
        <p14:creationId xmlns:p14="http://schemas.microsoft.com/office/powerpoint/2010/main" val="94726675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r>
              <a:rPr lang="en-IN" dirty="0"/>
              <a:t>When an incremental model is used, the first increment is often a core </a:t>
            </a:r>
            <a:r>
              <a:rPr lang="en-IN" dirty="0" smtClean="0"/>
              <a:t>product. Basic </a:t>
            </a:r>
            <a:r>
              <a:rPr lang="en-IN" dirty="0"/>
              <a:t>requirements are addressed, but many supplementary </a:t>
            </a:r>
            <a:r>
              <a:rPr lang="en-IN" dirty="0" smtClean="0"/>
              <a:t>features </a:t>
            </a:r>
            <a:r>
              <a:rPr lang="en-IN" dirty="0"/>
              <a:t>remain undelivered. The core product is used by the customer </a:t>
            </a:r>
            <a:r>
              <a:rPr lang="en-IN" dirty="0" smtClean="0"/>
              <a:t>. </a:t>
            </a:r>
            <a:r>
              <a:rPr lang="en-IN" dirty="0"/>
              <a:t>As a result of use </a:t>
            </a:r>
            <a:r>
              <a:rPr lang="en-IN" dirty="0" smtClean="0"/>
              <a:t>or </a:t>
            </a:r>
            <a:r>
              <a:rPr lang="en-IN" dirty="0"/>
              <a:t>evaluation, a plan is developed for the next increment. </a:t>
            </a:r>
            <a:r>
              <a:rPr lang="en-IN" dirty="0" smtClean="0"/>
              <a:t>It addresses </a:t>
            </a:r>
            <a:r>
              <a:rPr lang="en-IN" dirty="0"/>
              <a:t>the modification of the core product to better meet the needs of the customer and the delivery of additional </a:t>
            </a:r>
            <a:r>
              <a:rPr lang="en-IN" dirty="0" smtClean="0"/>
              <a:t>functionality</a:t>
            </a:r>
            <a:r>
              <a:rPr lang="en-IN" dirty="0"/>
              <a:t>. This process is repeated </a:t>
            </a:r>
            <a:r>
              <a:rPr lang="en-IN" dirty="0" smtClean="0"/>
              <a:t>in each </a:t>
            </a:r>
            <a:r>
              <a:rPr lang="en-IN" dirty="0"/>
              <a:t>increment, until the complete product is produced.</a:t>
            </a:r>
          </a:p>
        </p:txBody>
      </p:sp>
      <p:sp>
        <p:nvSpPr>
          <p:cNvPr id="3" name="Title 2"/>
          <p:cNvSpPr>
            <a:spLocks noGrp="1"/>
          </p:cNvSpPr>
          <p:nvPr>
            <p:ph type="title"/>
          </p:nvPr>
        </p:nvSpPr>
        <p:spPr/>
        <p:txBody>
          <a:bodyPr/>
          <a:lstStyle/>
          <a:p>
            <a:r>
              <a:rPr lang="en-US" dirty="0" smtClean="0"/>
              <a:t>Process Model</a:t>
            </a:r>
            <a:endParaRPr lang="en-IN" dirty="0"/>
          </a:p>
        </p:txBody>
      </p:sp>
    </p:spTree>
    <p:extLst>
      <p:ext uri="{BB962C8B-B14F-4D97-AF65-F5344CB8AC3E}">
        <p14:creationId xmlns:p14="http://schemas.microsoft.com/office/powerpoint/2010/main" val="265967763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Process Model</a:t>
            </a:r>
            <a:endParaRPr lang="en-IN" dirty="0"/>
          </a:p>
        </p:txBody>
      </p:sp>
      <p:pic>
        <p:nvPicPr>
          <p:cNvPr id="4" name="Content Placeholder 3" descr="Description: Description: C:\Users\RADHIKA\Desktop\Untitled.pn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35055" y="2247900"/>
            <a:ext cx="7073890" cy="3878263"/>
          </a:xfrm>
          <a:prstGeom prst="rect">
            <a:avLst/>
          </a:prstGeom>
          <a:noFill/>
          <a:ln>
            <a:noFill/>
          </a:ln>
        </p:spPr>
      </p:pic>
    </p:spTree>
    <p:extLst>
      <p:ext uri="{BB962C8B-B14F-4D97-AF65-F5344CB8AC3E}">
        <p14:creationId xmlns:p14="http://schemas.microsoft.com/office/powerpoint/2010/main" val="337123391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a:xfrm>
            <a:off x="685800" y="381000"/>
            <a:ext cx="7756263" cy="1054250"/>
          </a:xfrm>
        </p:spPr>
        <p:txBody>
          <a:bodyPr/>
          <a:lstStyle/>
          <a:p>
            <a:r>
              <a:rPr lang="en-US" dirty="0" smtClean="0"/>
              <a:t>Activity Diagram- Admin</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2312825727"/>
              </p:ext>
            </p:extLst>
          </p:nvPr>
        </p:nvGraphicFramePr>
        <p:xfrm>
          <a:off x="4005263" y="2667000"/>
          <a:ext cx="1131887" cy="3284538"/>
        </p:xfrm>
        <a:graphic>
          <a:graphicData uri="http://schemas.openxmlformats.org/presentationml/2006/ole">
            <mc:AlternateContent xmlns:mc="http://schemas.openxmlformats.org/markup-compatibility/2006">
              <mc:Choice xmlns:v="urn:schemas-microsoft-com:vml" Requires="v">
                <p:oleObj spid="_x0000_s1043" name="Visio" r:id="rId3" imgW="1132132" imgH="5044789" progId="Visio.Drawing.11">
                  <p:embed/>
                </p:oleObj>
              </mc:Choice>
              <mc:Fallback>
                <p:oleObj name="Visio" r:id="rId3" imgW="1132132" imgH="5044789" progId="Visio.Drawing.11">
                  <p:embed/>
                  <p:pic>
                    <p:nvPicPr>
                      <p:cNvPr id="0" name=""/>
                      <p:cNvPicPr/>
                      <p:nvPr/>
                    </p:nvPicPr>
                    <p:blipFill>
                      <a:blip r:embed="rId4"/>
                      <a:stretch>
                        <a:fillRect/>
                      </a:stretch>
                    </p:blipFill>
                    <p:spPr>
                      <a:xfrm>
                        <a:off x="4005263" y="2667000"/>
                        <a:ext cx="1131887" cy="3284538"/>
                      </a:xfrm>
                      <a:prstGeom prst="rect">
                        <a:avLst/>
                      </a:prstGeom>
                    </p:spPr>
                  </p:pic>
                </p:oleObj>
              </mc:Fallback>
            </mc:AlternateContent>
          </a:graphicData>
        </a:graphic>
      </p:graphicFrame>
    </p:spTree>
    <p:extLst>
      <p:ext uri="{BB962C8B-B14F-4D97-AF65-F5344CB8AC3E}">
        <p14:creationId xmlns:p14="http://schemas.microsoft.com/office/powerpoint/2010/main" val="338669770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a:xfrm>
            <a:off x="685800" y="457200"/>
            <a:ext cx="7756263" cy="1054250"/>
          </a:xfrm>
        </p:spPr>
        <p:txBody>
          <a:bodyPr/>
          <a:lstStyle/>
          <a:p>
            <a:r>
              <a:rPr lang="en-US" dirty="0"/>
              <a:t>Activity Diagram- </a:t>
            </a:r>
            <a:r>
              <a:rPr lang="en-US" dirty="0" smtClean="0"/>
              <a:t>Teacher</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323257684"/>
              </p:ext>
            </p:extLst>
          </p:nvPr>
        </p:nvGraphicFramePr>
        <p:xfrm>
          <a:off x="2209801" y="2286000"/>
          <a:ext cx="4953000" cy="4038600"/>
        </p:xfrm>
        <a:graphic>
          <a:graphicData uri="http://schemas.openxmlformats.org/presentationml/2006/ole">
            <mc:AlternateContent xmlns:mc="http://schemas.openxmlformats.org/markup-compatibility/2006">
              <mc:Choice xmlns:v="urn:schemas-microsoft-com:vml" Requires="v">
                <p:oleObj spid="_x0000_s2067" name="Visio" r:id="rId3" imgW="5977031" imgH="8536649" progId="Visio.Drawing.11">
                  <p:embed/>
                </p:oleObj>
              </mc:Choice>
              <mc:Fallback>
                <p:oleObj name="Visio" r:id="rId3" imgW="5977031" imgH="8536649" progId="Visio.Drawing.11">
                  <p:embed/>
                  <p:pic>
                    <p:nvPicPr>
                      <p:cNvPr id="0" name=""/>
                      <p:cNvPicPr/>
                      <p:nvPr/>
                    </p:nvPicPr>
                    <p:blipFill>
                      <a:blip r:embed="rId4"/>
                      <a:stretch>
                        <a:fillRect/>
                      </a:stretch>
                    </p:blipFill>
                    <p:spPr>
                      <a:xfrm>
                        <a:off x="2209801" y="2286000"/>
                        <a:ext cx="4953000" cy="4038600"/>
                      </a:xfrm>
                      <a:prstGeom prst="rect">
                        <a:avLst/>
                      </a:prstGeom>
                    </p:spPr>
                  </p:pic>
                </p:oleObj>
              </mc:Fallback>
            </mc:AlternateContent>
          </a:graphicData>
        </a:graphic>
      </p:graphicFrame>
    </p:spTree>
    <p:extLst>
      <p:ext uri="{BB962C8B-B14F-4D97-AF65-F5344CB8AC3E}">
        <p14:creationId xmlns:p14="http://schemas.microsoft.com/office/powerpoint/2010/main" val="188686746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a:xfrm>
            <a:off x="685800" y="381000"/>
            <a:ext cx="7756263" cy="1054250"/>
          </a:xfrm>
        </p:spPr>
        <p:txBody>
          <a:bodyPr/>
          <a:lstStyle/>
          <a:p>
            <a:r>
              <a:rPr lang="en-US" dirty="0"/>
              <a:t>Activity Diagram- </a:t>
            </a:r>
            <a:r>
              <a:rPr lang="en-US" dirty="0" smtClean="0"/>
              <a:t>Student</a:t>
            </a:r>
            <a:endParaRPr lang="en-IN" dirty="0"/>
          </a:p>
        </p:txBody>
      </p:sp>
      <p:graphicFrame>
        <p:nvGraphicFramePr>
          <p:cNvPr id="5" name="Object 4"/>
          <p:cNvGraphicFramePr>
            <a:graphicFrameLocks noChangeAspect="1"/>
          </p:cNvGraphicFramePr>
          <p:nvPr>
            <p:extLst>
              <p:ext uri="{D42A27DB-BD31-4B8C-83A1-F6EECF244321}">
                <p14:modId xmlns:p14="http://schemas.microsoft.com/office/powerpoint/2010/main" val="3343358933"/>
              </p:ext>
            </p:extLst>
          </p:nvPr>
        </p:nvGraphicFramePr>
        <p:xfrm>
          <a:off x="1447800" y="2286000"/>
          <a:ext cx="5943600" cy="3962400"/>
        </p:xfrm>
        <a:graphic>
          <a:graphicData uri="http://schemas.openxmlformats.org/presentationml/2006/ole">
            <mc:AlternateContent xmlns:mc="http://schemas.openxmlformats.org/markup-compatibility/2006">
              <mc:Choice xmlns:v="urn:schemas-microsoft-com:vml" Requires="v">
                <p:oleObj spid="_x0000_s3092" name="Visio" r:id="rId3" imgW="5866895" imgH="9076787" progId="Visio.Drawing.11">
                  <p:embed/>
                </p:oleObj>
              </mc:Choice>
              <mc:Fallback>
                <p:oleObj name="Visio" r:id="rId3" imgW="5866895" imgH="9076787" progId="Visio.Drawing.11">
                  <p:embed/>
                  <p:pic>
                    <p:nvPicPr>
                      <p:cNvPr id="0" name=""/>
                      <p:cNvPicPr/>
                      <p:nvPr/>
                    </p:nvPicPr>
                    <p:blipFill>
                      <a:blip r:embed="rId4"/>
                      <a:stretch>
                        <a:fillRect/>
                      </a:stretch>
                    </p:blipFill>
                    <p:spPr>
                      <a:xfrm>
                        <a:off x="1447800" y="2286000"/>
                        <a:ext cx="5943600" cy="3962400"/>
                      </a:xfrm>
                      <a:prstGeom prst="rect">
                        <a:avLst/>
                      </a:prstGeom>
                    </p:spPr>
                  </p:pic>
                </p:oleObj>
              </mc:Fallback>
            </mc:AlternateContent>
          </a:graphicData>
        </a:graphic>
      </p:graphicFrame>
    </p:spTree>
    <p:extLst>
      <p:ext uri="{BB962C8B-B14F-4D97-AF65-F5344CB8AC3E}">
        <p14:creationId xmlns:p14="http://schemas.microsoft.com/office/powerpoint/2010/main" val="282484552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smtClean="0"/>
              <a:t>DFD - 0</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996556308"/>
              </p:ext>
            </p:extLst>
          </p:nvPr>
        </p:nvGraphicFramePr>
        <p:xfrm>
          <a:off x="1854200" y="2590800"/>
          <a:ext cx="5765800" cy="3554412"/>
        </p:xfrm>
        <a:graphic>
          <a:graphicData uri="http://schemas.openxmlformats.org/presentationml/2006/ole">
            <mc:AlternateContent xmlns:mc="http://schemas.openxmlformats.org/markup-compatibility/2006">
              <mc:Choice xmlns:v="urn:schemas-microsoft-com:vml" Requires="v">
                <p:oleObj spid="_x0000_s4115" name="Visio" r:id="rId3" imgW="5434720" imgH="5431603" progId="Visio.Drawing.11">
                  <p:embed/>
                </p:oleObj>
              </mc:Choice>
              <mc:Fallback>
                <p:oleObj name="Visio" r:id="rId3" imgW="5434720" imgH="5431603" progId="Visio.Drawing.11">
                  <p:embed/>
                  <p:pic>
                    <p:nvPicPr>
                      <p:cNvPr id="0" name=""/>
                      <p:cNvPicPr/>
                      <p:nvPr/>
                    </p:nvPicPr>
                    <p:blipFill>
                      <a:blip r:embed="rId4"/>
                      <a:stretch>
                        <a:fillRect/>
                      </a:stretch>
                    </p:blipFill>
                    <p:spPr>
                      <a:xfrm>
                        <a:off x="1854200" y="2590800"/>
                        <a:ext cx="5765800" cy="3554412"/>
                      </a:xfrm>
                      <a:prstGeom prst="rect">
                        <a:avLst/>
                      </a:prstGeom>
                    </p:spPr>
                  </p:pic>
                </p:oleObj>
              </mc:Fallback>
            </mc:AlternateContent>
          </a:graphicData>
        </a:graphic>
      </p:graphicFrame>
    </p:spTree>
    <p:extLst>
      <p:ext uri="{BB962C8B-B14F-4D97-AF65-F5344CB8AC3E}">
        <p14:creationId xmlns:p14="http://schemas.microsoft.com/office/powerpoint/2010/main" val="337325547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smtClean="0"/>
              <a:t>DFD – 1_Admin</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2403150401"/>
              </p:ext>
            </p:extLst>
          </p:nvPr>
        </p:nvGraphicFramePr>
        <p:xfrm>
          <a:off x="2590800" y="2286000"/>
          <a:ext cx="4419600" cy="3810000"/>
        </p:xfrm>
        <a:graphic>
          <a:graphicData uri="http://schemas.openxmlformats.org/presentationml/2006/ole">
            <mc:AlternateContent xmlns:mc="http://schemas.openxmlformats.org/markup-compatibility/2006">
              <mc:Choice xmlns:v="urn:schemas-microsoft-com:vml" Requires="v">
                <p:oleObj spid="_x0000_s5139" name="Visio" r:id="rId3" imgW="5355357" imgH="8477264" progId="Visio.Drawing.11">
                  <p:embed/>
                </p:oleObj>
              </mc:Choice>
              <mc:Fallback>
                <p:oleObj name="Visio" r:id="rId3" imgW="5355357" imgH="8477264" progId="Visio.Drawing.11">
                  <p:embed/>
                  <p:pic>
                    <p:nvPicPr>
                      <p:cNvPr id="0" name=""/>
                      <p:cNvPicPr/>
                      <p:nvPr/>
                    </p:nvPicPr>
                    <p:blipFill>
                      <a:blip r:embed="rId4"/>
                      <a:stretch>
                        <a:fillRect/>
                      </a:stretch>
                    </p:blipFill>
                    <p:spPr>
                      <a:xfrm>
                        <a:off x="2590800" y="2286000"/>
                        <a:ext cx="4419600" cy="3810000"/>
                      </a:xfrm>
                      <a:prstGeom prst="rect">
                        <a:avLst/>
                      </a:prstGeom>
                    </p:spPr>
                  </p:pic>
                </p:oleObj>
              </mc:Fallback>
            </mc:AlternateContent>
          </a:graphicData>
        </a:graphic>
      </p:graphicFrame>
    </p:spTree>
    <p:extLst>
      <p:ext uri="{BB962C8B-B14F-4D97-AF65-F5344CB8AC3E}">
        <p14:creationId xmlns:p14="http://schemas.microsoft.com/office/powerpoint/2010/main" val="181915295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a:t>DFD – </a:t>
            </a:r>
            <a:r>
              <a:rPr lang="en-US" dirty="0" smtClean="0"/>
              <a:t>1_Teacher</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1949973185"/>
              </p:ext>
            </p:extLst>
          </p:nvPr>
        </p:nvGraphicFramePr>
        <p:xfrm>
          <a:off x="1447800" y="2209800"/>
          <a:ext cx="6324600" cy="3886200"/>
        </p:xfrm>
        <a:graphic>
          <a:graphicData uri="http://schemas.openxmlformats.org/presentationml/2006/ole">
            <mc:AlternateContent xmlns:mc="http://schemas.openxmlformats.org/markup-compatibility/2006">
              <mc:Choice xmlns:v="urn:schemas-microsoft-com:vml" Requires="v">
                <p:oleObj spid="_x0000_s6163" name="Visio" r:id="rId3" imgW="4707229" imgH="4373194" progId="Visio.Drawing.11">
                  <p:embed/>
                </p:oleObj>
              </mc:Choice>
              <mc:Fallback>
                <p:oleObj name="Visio" r:id="rId3" imgW="4707229" imgH="4373194" progId="Visio.Drawing.11">
                  <p:embed/>
                  <p:pic>
                    <p:nvPicPr>
                      <p:cNvPr id="0" name=""/>
                      <p:cNvPicPr/>
                      <p:nvPr/>
                    </p:nvPicPr>
                    <p:blipFill>
                      <a:blip r:embed="rId4"/>
                      <a:stretch>
                        <a:fillRect/>
                      </a:stretch>
                    </p:blipFill>
                    <p:spPr>
                      <a:xfrm>
                        <a:off x="1447800" y="2209800"/>
                        <a:ext cx="6324600" cy="3886200"/>
                      </a:xfrm>
                      <a:prstGeom prst="rect">
                        <a:avLst/>
                      </a:prstGeom>
                    </p:spPr>
                  </p:pic>
                </p:oleObj>
              </mc:Fallback>
            </mc:AlternateContent>
          </a:graphicData>
        </a:graphic>
      </p:graphicFrame>
    </p:spTree>
    <p:extLst>
      <p:ext uri="{BB962C8B-B14F-4D97-AF65-F5344CB8AC3E}">
        <p14:creationId xmlns:p14="http://schemas.microsoft.com/office/powerpoint/2010/main" val="382888963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a:t>DFD – </a:t>
            </a:r>
            <a:r>
              <a:rPr lang="en-US" dirty="0" smtClean="0"/>
              <a:t>1_Student</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1507307247"/>
              </p:ext>
            </p:extLst>
          </p:nvPr>
        </p:nvGraphicFramePr>
        <p:xfrm>
          <a:off x="1828800" y="2209800"/>
          <a:ext cx="5562600" cy="3886200"/>
        </p:xfrm>
        <a:graphic>
          <a:graphicData uri="http://schemas.openxmlformats.org/presentationml/2006/ole">
            <mc:AlternateContent xmlns:mc="http://schemas.openxmlformats.org/markup-compatibility/2006">
              <mc:Choice xmlns:v="urn:schemas-microsoft-com:vml" Requires="v">
                <p:oleObj spid="_x0000_s7187" name="Visio" r:id="rId3" imgW="5337271" imgH="7234760" progId="Visio.Drawing.11">
                  <p:embed/>
                </p:oleObj>
              </mc:Choice>
              <mc:Fallback>
                <p:oleObj name="Visio" r:id="rId3" imgW="5337271" imgH="7234760" progId="Visio.Drawing.11">
                  <p:embed/>
                  <p:pic>
                    <p:nvPicPr>
                      <p:cNvPr id="0" name=""/>
                      <p:cNvPicPr/>
                      <p:nvPr/>
                    </p:nvPicPr>
                    <p:blipFill>
                      <a:blip r:embed="rId4"/>
                      <a:stretch>
                        <a:fillRect/>
                      </a:stretch>
                    </p:blipFill>
                    <p:spPr>
                      <a:xfrm>
                        <a:off x="1828800" y="2209800"/>
                        <a:ext cx="5562600" cy="3886200"/>
                      </a:xfrm>
                      <a:prstGeom prst="rect">
                        <a:avLst/>
                      </a:prstGeom>
                    </p:spPr>
                  </p:pic>
                </p:oleObj>
              </mc:Fallback>
            </mc:AlternateContent>
          </a:graphicData>
        </a:graphic>
      </p:graphicFrame>
    </p:spTree>
    <p:extLst>
      <p:ext uri="{BB962C8B-B14F-4D97-AF65-F5344CB8AC3E}">
        <p14:creationId xmlns:p14="http://schemas.microsoft.com/office/powerpoint/2010/main" val="59101830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smtClean="0"/>
              <a:t>Sequence Diagram</a:t>
            </a:r>
            <a:endParaRPr lang="en-IN" dirty="0"/>
          </a:p>
        </p:txBody>
      </p:sp>
      <p:graphicFrame>
        <p:nvGraphicFramePr>
          <p:cNvPr id="5" name="Object 4"/>
          <p:cNvGraphicFramePr>
            <a:graphicFrameLocks noChangeAspect="1"/>
          </p:cNvGraphicFramePr>
          <p:nvPr>
            <p:extLst>
              <p:ext uri="{D42A27DB-BD31-4B8C-83A1-F6EECF244321}">
                <p14:modId xmlns:p14="http://schemas.microsoft.com/office/powerpoint/2010/main" val="307953050"/>
              </p:ext>
            </p:extLst>
          </p:nvPr>
        </p:nvGraphicFramePr>
        <p:xfrm>
          <a:off x="2057400" y="2133600"/>
          <a:ext cx="4876800" cy="4419600"/>
        </p:xfrm>
        <a:graphic>
          <a:graphicData uri="http://schemas.openxmlformats.org/presentationml/2006/ole">
            <mc:AlternateContent xmlns:mc="http://schemas.openxmlformats.org/markup-compatibility/2006">
              <mc:Choice xmlns:v="urn:schemas-microsoft-com:vml" Requires="v">
                <p:oleObj spid="_x0000_s8211" name="Visio" r:id="rId3" imgW="5334841" imgH="8690242" progId="Visio.Drawing.11">
                  <p:embed/>
                </p:oleObj>
              </mc:Choice>
              <mc:Fallback>
                <p:oleObj name="Visio" r:id="rId3" imgW="5334841" imgH="8690242" progId="Visio.Drawing.11">
                  <p:embed/>
                  <p:pic>
                    <p:nvPicPr>
                      <p:cNvPr id="0" name=""/>
                      <p:cNvPicPr/>
                      <p:nvPr/>
                    </p:nvPicPr>
                    <p:blipFill>
                      <a:blip r:embed="rId4"/>
                      <a:stretch>
                        <a:fillRect/>
                      </a:stretch>
                    </p:blipFill>
                    <p:spPr>
                      <a:xfrm>
                        <a:off x="2057400" y="2133600"/>
                        <a:ext cx="4876800" cy="4419600"/>
                      </a:xfrm>
                      <a:prstGeom prst="rect">
                        <a:avLst/>
                      </a:prstGeom>
                    </p:spPr>
                  </p:pic>
                </p:oleObj>
              </mc:Fallback>
            </mc:AlternateContent>
          </a:graphicData>
        </a:graphic>
      </p:graphicFrame>
    </p:spTree>
    <p:extLst>
      <p:ext uri="{BB962C8B-B14F-4D97-AF65-F5344CB8AC3E}">
        <p14:creationId xmlns:p14="http://schemas.microsoft.com/office/powerpoint/2010/main" val="42840205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r>
              <a:rPr lang="en-US" dirty="0" smtClean="0"/>
              <a:t>ER Diagram</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3907095168"/>
              </p:ext>
            </p:extLst>
          </p:nvPr>
        </p:nvGraphicFramePr>
        <p:xfrm>
          <a:off x="685800" y="2133600"/>
          <a:ext cx="7772400" cy="4343400"/>
        </p:xfrm>
        <a:graphic>
          <a:graphicData uri="http://schemas.openxmlformats.org/presentationml/2006/ole">
            <mc:AlternateContent xmlns:mc="http://schemas.openxmlformats.org/markup-compatibility/2006">
              <mc:Choice xmlns:v="urn:schemas-microsoft-com:vml" Requires="v">
                <p:oleObj spid="_x0000_s9235" name="Visio" r:id="rId3" imgW="7145335" imgH="9053302" progId="Visio.Drawing.11">
                  <p:embed/>
                </p:oleObj>
              </mc:Choice>
              <mc:Fallback>
                <p:oleObj name="Visio" r:id="rId3" imgW="7145335" imgH="9053302" progId="Visio.Drawing.11">
                  <p:embed/>
                  <p:pic>
                    <p:nvPicPr>
                      <p:cNvPr id="0" name=""/>
                      <p:cNvPicPr/>
                      <p:nvPr/>
                    </p:nvPicPr>
                    <p:blipFill>
                      <a:blip r:embed="rId4"/>
                      <a:stretch>
                        <a:fillRect/>
                      </a:stretch>
                    </p:blipFill>
                    <p:spPr>
                      <a:xfrm>
                        <a:off x="685800" y="2133600"/>
                        <a:ext cx="7772400" cy="4343400"/>
                      </a:xfrm>
                      <a:prstGeom prst="rect">
                        <a:avLst/>
                      </a:prstGeom>
                    </p:spPr>
                  </p:pic>
                </p:oleObj>
              </mc:Fallback>
            </mc:AlternateContent>
          </a:graphicData>
        </a:graphic>
      </p:graphicFrame>
    </p:spTree>
    <p:extLst>
      <p:ext uri="{BB962C8B-B14F-4D97-AF65-F5344CB8AC3E}">
        <p14:creationId xmlns:p14="http://schemas.microsoft.com/office/powerpoint/2010/main" val="372687296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a:t>
            </a:r>
            <a:r>
              <a:rPr lang="en-US" dirty="0" smtClean="0"/>
              <a:t>ogin Form</a:t>
            </a:r>
            <a:endParaRPr lang="en-IN" dirty="0"/>
          </a:p>
        </p:txBody>
      </p:sp>
      <p:pic>
        <p:nvPicPr>
          <p:cNvPr id="6" name="Picture 2" descr="C:\Users\shraddha\Desktop\project_TT\screenshots\1 - login form.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8787" y="2247900"/>
            <a:ext cx="342642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58634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Login </a:t>
            </a:r>
            <a:r>
              <a:rPr lang="en-US" dirty="0" smtClean="0"/>
              <a:t>Form- Blank</a:t>
            </a:r>
            <a:endParaRPr lang="en-IN" dirty="0"/>
          </a:p>
        </p:txBody>
      </p:sp>
      <p:pic>
        <p:nvPicPr>
          <p:cNvPr id="11266" name="Picture 2" descr="C:\Users\shraddha\Desktop\project_TT\screenshots\2- Login from - blank.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7491" y="2247900"/>
            <a:ext cx="3449018"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56439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457200"/>
            <a:ext cx="7756263" cy="1054250"/>
          </a:xfrm>
        </p:spPr>
        <p:txBody>
          <a:bodyPr/>
          <a:lstStyle/>
          <a:p>
            <a:r>
              <a:rPr lang="en-IN" dirty="0" smtClean="0"/>
              <a:t>Registration </a:t>
            </a:r>
            <a:r>
              <a:rPr lang="en-IN" dirty="0"/>
              <a:t>form - Student</a:t>
            </a:r>
          </a:p>
        </p:txBody>
      </p:sp>
      <p:pic>
        <p:nvPicPr>
          <p:cNvPr id="12290" name="Picture 2" descr="C:\Users\shraddha\Desktop\project_TT\screenshots\3 - Registration form - Studen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95601" y="2370137"/>
            <a:ext cx="3810000"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43595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381000"/>
            <a:ext cx="7756263" cy="1054250"/>
          </a:xfrm>
        </p:spPr>
        <p:txBody>
          <a:bodyPr/>
          <a:lstStyle/>
          <a:p>
            <a:r>
              <a:rPr lang="en-IN" dirty="0"/>
              <a:t>Registration form - </a:t>
            </a:r>
            <a:r>
              <a:rPr lang="en-IN" dirty="0" smtClean="0"/>
              <a:t>Teacher</a:t>
            </a:r>
            <a:endParaRPr lang="en-IN" dirty="0"/>
          </a:p>
        </p:txBody>
      </p:sp>
      <p:pic>
        <p:nvPicPr>
          <p:cNvPr id="13314" name="Picture 2" descr="C:\Users\shraddha\Desktop\project_TT\screenshots\4 - Registration form - Teacher.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3200" y="2247900"/>
            <a:ext cx="3886199"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45002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Registration </a:t>
            </a:r>
            <a:r>
              <a:rPr lang="en-IN" dirty="0"/>
              <a:t>blank</a:t>
            </a:r>
          </a:p>
        </p:txBody>
      </p:sp>
      <p:pic>
        <p:nvPicPr>
          <p:cNvPr id="14338" name="Picture 2" descr="C:\Users\shraddha\Desktop\project_TT\screenshots\5 - Registration blank.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4600" y="2247900"/>
            <a:ext cx="4114800"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762666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Registration </a:t>
            </a:r>
            <a:r>
              <a:rPr lang="en-IN" dirty="0"/>
              <a:t>phone no</a:t>
            </a:r>
          </a:p>
        </p:txBody>
      </p:sp>
      <p:pic>
        <p:nvPicPr>
          <p:cNvPr id="15362" name="Picture 2" descr="C:\Users\shraddha\Desktop\project_TT\screenshots\6 - Registration phone no.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0" y="2247900"/>
            <a:ext cx="4038600"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54880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Registration </a:t>
            </a:r>
            <a:r>
              <a:rPr lang="en-IN" dirty="0"/>
              <a:t>Email</a:t>
            </a:r>
          </a:p>
        </p:txBody>
      </p:sp>
      <p:pic>
        <p:nvPicPr>
          <p:cNvPr id="16386" name="Picture 2" descr="C:\Users\shraddha\Desktop\project_TT\screenshots\7 - Registration Email.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6999" y="2247900"/>
            <a:ext cx="4038601"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67072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Teacher Main Window</a:t>
            </a:r>
            <a:endParaRPr lang="en-IN" dirty="0"/>
          </a:p>
        </p:txBody>
      </p:sp>
      <p:pic>
        <p:nvPicPr>
          <p:cNvPr id="17410" name="Picture 2" descr="C:\Users\shraddha\Desktop\project_TT\screenshots\8 - Teacher main window.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8464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Teacher </a:t>
            </a:r>
            <a:r>
              <a:rPr lang="en-IN" dirty="0"/>
              <a:t>File </a:t>
            </a:r>
            <a:r>
              <a:rPr lang="en-IN" dirty="0" smtClean="0"/>
              <a:t>Menu</a:t>
            </a:r>
            <a:endParaRPr lang="en-IN" dirty="0"/>
          </a:p>
        </p:txBody>
      </p:sp>
      <p:pic>
        <p:nvPicPr>
          <p:cNvPr id="18434" name="Picture 2" descr="C:\Users\shraddha\Desktop\project_TT\screenshots\9 - Teacher File menu.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42113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Teacher </a:t>
            </a:r>
            <a:r>
              <a:rPr lang="en-IN" dirty="0"/>
              <a:t>Edit </a:t>
            </a:r>
            <a:r>
              <a:rPr lang="en-IN" dirty="0" smtClean="0"/>
              <a:t>Menu</a:t>
            </a:r>
            <a:endParaRPr lang="en-IN" dirty="0"/>
          </a:p>
        </p:txBody>
      </p:sp>
      <p:pic>
        <p:nvPicPr>
          <p:cNvPr id="19458" name="Picture 2" descr="C:\Users\shraddha\Desktop\project_TT\screenshots\10 - Teacher Edit menu.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98236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Teacher </a:t>
            </a:r>
            <a:r>
              <a:rPr lang="en-IN" dirty="0"/>
              <a:t>Tools </a:t>
            </a:r>
            <a:r>
              <a:rPr lang="en-IN" dirty="0" smtClean="0"/>
              <a:t>Menu</a:t>
            </a:r>
            <a:endParaRPr lang="en-IN" dirty="0"/>
          </a:p>
        </p:txBody>
      </p:sp>
      <p:pic>
        <p:nvPicPr>
          <p:cNvPr id="20482" name="Picture 2" descr="C:\Users\shraddha\Desktop\project_TT\screenshots\11 - Teacher Tools menu.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15316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Teacher </a:t>
            </a:r>
            <a:r>
              <a:rPr lang="en-IN" dirty="0"/>
              <a:t>Colour </a:t>
            </a:r>
            <a:r>
              <a:rPr lang="en-IN" dirty="0" smtClean="0"/>
              <a:t>Menu</a:t>
            </a:r>
            <a:endParaRPr lang="en-IN" dirty="0"/>
          </a:p>
        </p:txBody>
      </p:sp>
      <p:pic>
        <p:nvPicPr>
          <p:cNvPr id="21506" name="Picture 2" descr="C:\Users\shraddha\Desktop\project_TT\screenshots\12 - Teacher Colour menu.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25018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Save On Exit</a:t>
            </a:r>
            <a:endParaRPr lang="en-IN" dirty="0"/>
          </a:p>
        </p:txBody>
      </p:sp>
      <p:pic>
        <p:nvPicPr>
          <p:cNvPr id="22530" name="Picture 2" descr="C:\Users\shraddha\Desktop\project_TT\screenshots\14 - save on exi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61232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a:t>
            </a:r>
            <a:r>
              <a:rPr lang="en-IN" dirty="0" smtClean="0"/>
              <a:t>ave File Menu</a:t>
            </a:r>
            <a:endParaRPr lang="en-IN" dirty="0"/>
          </a:p>
        </p:txBody>
      </p:sp>
      <p:pic>
        <p:nvPicPr>
          <p:cNvPr id="23554" name="Picture 2" descr="C:\Users\shraddha\Desktop\project_TT\screenshots\15 - save file menu.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7457" y="2247900"/>
            <a:ext cx="688908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14069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457200"/>
            <a:ext cx="7756263" cy="1054250"/>
          </a:xfrm>
        </p:spPr>
        <p:txBody>
          <a:bodyPr/>
          <a:lstStyle/>
          <a:p>
            <a:r>
              <a:rPr lang="en-IN" dirty="0"/>
              <a:t>S</a:t>
            </a:r>
            <a:r>
              <a:rPr lang="en-IN" dirty="0" smtClean="0"/>
              <a:t>ave File Menu </a:t>
            </a:r>
            <a:r>
              <a:rPr lang="en-IN" dirty="0"/>
              <a:t>- </a:t>
            </a:r>
            <a:r>
              <a:rPr lang="en-IN" dirty="0" smtClean="0"/>
              <a:t>File choose</a:t>
            </a:r>
            <a:endParaRPr lang="en-IN" dirty="0"/>
          </a:p>
        </p:txBody>
      </p:sp>
      <p:pic>
        <p:nvPicPr>
          <p:cNvPr id="24578" name="Picture 2" descr="C:\Users\shraddha\Desktop\project_TT\screenshots\16 - save file menu - filechoos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7457" y="2247900"/>
            <a:ext cx="688908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543718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a:t>
            </a:r>
            <a:r>
              <a:rPr lang="en-IN" dirty="0" smtClean="0"/>
              <a:t>pen File Menu</a:t>
            </a:r>
            <a:endParaRPr lang="en-IN" dirty="0"/>
          </a:p>
        </p:txBody>
      </p:sp>
      <p:pic>
        <p:nvPicPr>
          <p:cNvPr id="25602" name="Picture 2" descr="C:\Users\shraddha\Desktop\project_TT\screenshots\17 - open file menu.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7457" y="2293937"/>
            <a:ext cx="688908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58022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457200"/>
            <a:ext cx="7756263" cy="1054250"/>
          </a:xfrm>
        </p:spPr>
        <p:txBody>
          <a:bodyPr/>
          <a:lstStyle/>
          <a:p>
            <a:r>
              <a:rPr lang="en-IN" dirty="0"/>
              <a:t>O</a:t>
            </a:r>
            <a:r>
              <a:rPr lang="en-IN" dirty="0" smtClean="0"/>
              <a:t>pen File Menu </a:t>
            </a:r>
            <a:r>
              <a:rPr lang="en-IN" dirty="0"/>
              <a:t>- </a:t>
            </a:r>
            <a:r>
              <a:rPr lang="en-IN" dirty="0" smtClean="0"/>
              <a:t>File chooser</a:t>
            </a:r>
            <a:endParaRPr lang="en-IN" dirty="0"/>
          </a:p>
        </p:txBody>
      </p:sp>
      <p:pic>
        <p:nvPicPr>
          <p:cNvPr id="26626" name="Picture 2" descr="C:\Users\shraddha\Desktop\project_TT\screenshots\18 - open file menu - filechooser.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7457" y="2247900"/>
            <a:ext cx="688908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23444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A</a:t>
            </a:r>
            <a:r>
              <a:rPr lang="en-IN" dirty="0" smtClean="0"/>
              <a:t>dmin Window</a:t>
            </a:r>
            <a:endParaRPr lang="en-IN" dirty="0"/>
          </a:p>
        </p:txBody>
      </p:sp>
      <p:pic>
        <p:nvPicPr>
          <p:cNvPr id="27650" name="Picture 2" descr="C:\Users\shraddha\Desktop\project_TT\screenshots\19 - admin window.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7722" y="2247900"/>
            <a:ext cx="61885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977695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Admin Window</a:t>
            </a:r>
          </a:p>
        </p:txBody>
      </p:sp>
      <p:pic>
        <p:nvPicPr>
          <p:cNvPr id="28674" name="Picture 2" descr="C:\Users\shraddha\Desktop\project_TT\screenshots\20 - admin window.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9974" y="2247900"/>
            <a:ext cx="6184052"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07834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a:t>
            </a:r>
            <a:r>
              <a:rPr lang="en-IN" dirty="0" smtClean="0"/>
              <a:t>tudent Window</a:t>
            </a:r>
            <a:endParaRPr lang="en-IN" dirty="0"/>
          </a:p>
        </p:txBody>
      </p:sp>
      <p:pic>
        <p:nvPicPr>
          <p:cNvPr id="29698" name="Picture 2" descr="C:\Users\shraddha\Desktop\project_TT\screenshots\21 - student window.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2506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sz="4800" dirty="0" smtClean="0"/>
              <a:t>Student</a:t>
            </a:r>
            <a:r>
              <a:rPr lang="en-IN" sz="4800" dirty="0" smtClean="0"/>
              <a:t> Window (Shared screen)</a:t>
            </a:r>
            <a:endParaRPr lang="en-IN" sz="4800" dirty="0"/>
          </a:p>
        </p:txBody>
      </p:sp>
      <p:pic>
        <p:nvPicPr>
          <p:cNvPr id="30722" name="Picture 2" descr="C:\Users\shraddha\Desktop\project_TT\screenshots\22 - student window.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2972" y="2247900"/>
            <a:ext cx="6898056" cy="3878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61414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lgn="just"/>
            <a:r>
              <a:rPr lang="en-IN" dirty="0"/>
              <a:t>It uses static IP address we can extend it to dynamic IP address level.</a:t>
            </a:r>
          </a:p>
          <a:p>
            <a:pPr lvl="0" algn="just"/>
            <a:r>
              <a:rPr lang="en-IN" dirty="0"/>
              <a:t>It is limited to classroom but we can extend it to university level by providing wireless network and dynamic IP address.</a:t>
            </a:r>
          </a:p>
          <a:p>
            <a:pPr lvl="0" algn="just"/>
            <a:r>
              <a:rPr lang="en-IN" dirty="0"/>
              <a:t>It shares texts and graphics but we can extend it to audio and video sharing.</a:t>
            </a:r>
          </a:p>
          <a:p>
            <a:pPr algn="just"/>
            <a:endParaRPr lang="en-IN" dirty="0"/>
          </a:p>
        </p:txBody>
      </p:sp>
      <p:sp>
        <p:nvSpPr>
          <p:cNvPr id="3" name="Title 2"/>
          <p:cNvSpPr>
            <a:spLocks noGrp="1"/>
          </p:cNvSpPr>
          <p:nvPr>
            <p:ph type="title"/>
          </p:nvPr>
        </p:nvSpPr>
        <p:spPr>
          <a:xfrm>
            <a:off x="685800" y="457200"/>
            <a:ext cx="7756263" cy="1054250"/>
          </a:xfrm>
        </p:spPr>
        <p:txBody>
          <a:bodyPr/>
          <a:lstStyle/>
          <a:p>
            <a:r>
              <a:rPr lang="en-US" dirty="0" smtClean="0"/>
              <a:t>Limitation &amp; Future Extension</a:t>
            </a:r>
            <a:endParaRPr lang="en-IN" dirty="0"/>
          </a:p>
        </p:txBody>
      </p:sp>
    </p:spTree>
    <p:extLst>
      <p:ext uri="{BB962C8B-B14F-4D97-AF65-F5344CB8AC3E}">
        <p14:creationId xmlns:p14="http://schemas.microsoft.com/office/powerpoint/2010/main" val="58187163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0" y="2438400"/>
            <a:ext cx="7745505" cy="3877815"/>
          </a:xfrm>
        </p:spPr>
        <p:txBody>
          <a:bodyPr/>
          <a:lstStyle/>
          <a:p>
            <a:pPr algn="just"/>
            <a:r>
              <a:rPr lang="en-IN" dirty="0"/>
              <a:t>Educational White Board is kind of system by which tutor can share graphics and text with students thus it overcomes the drawbacks of conventional Black Board </a:t>
            </a:r>
          </a:p>
          <a:p>
            <a:pPr algn="just"/>
            <a:endParaRPr lang="en-IN" dirty="0"/>
          </a:p>
        </p:txBody>
      </p:sp>
      <p:sp>
        <p:nvSpPr>
          <p:cNvPr id="3" name="Title 2"/>
          <p:cNvSpPr>
            <a:spLocks noGrp="1"/>
          </p:cNvSpPr>
          <p:nvPr>
            <p:ph type="title"/>
          </p:nvPr>
        </p:nvSpPr>
        <p:spPr/>
        <p:txBody>
          <a:bodyPr/>
          <a:lstStyle/>
          <a:p>
            <a:r>
              <a:rPr lang="en-US" dirty="0" smtClean="0"/>
              <a:t>Conclusion</a:t>
            </a:r>
            <a:endParaRPr lang="en-IN" dirty="0"/>
          </a:p>
        </p:txBody>
      </p:sp>
    </p:spTree>
    <p:extLst>
      <p:ext uri="{BB962C8B-B14F-4D97-AF65-F5344CB8AC3E}">
        <p14:creationId xmlns:p14="http://schemas.microsoft.com/office/powerpoint/2010/main" val="96680721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lvl="0" algn="just"/>
            <a:r>
              <a:rPr lang="en-IN" dirty="0" smtClean="0"/>
              <a:t>Software </a:t>
            </a:r>
            <a:r>
              <a:rPr lang="en-IN" dirty="0"/>
              <a:t>Engineering, Eighth Edition, Somerville, Pearson</a:t>
            </a:r>
          </a:p>
          <a:p>
            <a:pPr lvl="0" algn="just"/>
            <a:r>
              <a:rPr lang="en-IN" dirty="0"/>
              <a:t>Oriented Modelling and Design with UML second edition by Michael </a:t>
            </a:r>
            <a:r>
              <a:rPr lang="en-IN" dirty="0" err="1"/>
              <a:t>Blaha</a:t>
            </a:r>
            <a:r>
              <a:rPr lang="en-IN" dirty="0"/>
              <a:t> and James Ram Baugh.</a:t>
            </a:r>
          </a:p>
          <a:p>
            <a:pPr lvl="0" algn="just"/>
            <a:r>
              <a:rPr lang="en-IN" dirty="0"/>
              <a:t>Headfirst learning Java &amp; Headfirst JSP &amp; Servlet by Bret Bates &amp; Kathy Sierra.</a:t>
            </a:r>
          </a:p>
          <a:p>
            <a:pPr lvl="0" algn="just"/>
            <a:r>
              <a:rPr lang="en-IN" dirty="0"/>
              <a:t>Software Engineering - a practitioner's approach by Roger Pressman.</a:t>
            </a:r>
          </a:p>
          <a:p>
            <a:pPr lvl="0" algn="just"/>
            <a:r>
              <a:rPr lang="en-IN" dirty="0"/>
              <a:t>Java Server Programming J2Ee 1.4 Ed. Black Book by </a:t>
            </a:r>
            <a:r>
              <a:rPr lang="en-IN" dirty="0" err="1"/>
              <a:t>Dreamtech</a:t>
            </a:r>
            <a:r>
              <a:rPr lang="en-IN" dirty="0"/>
              <a:t> Press.</a:t>
            </a:r>
          </a:p>
          <a:p>
            <a:pPr algn="just"/>
            <a:endParaRPr lang="en-IN" dirty="0"/>
          </a:p>
        </p:txBody>
      </p:sp>
      <p:sp>
        <p:nvSpPr>
          <p:cNvPr id="3" name="Title 2"/>
          <p:cNvSpPr>
            <a:spLocks noGrp="1"/>
          </p:cNvSpPr>
          <p:nvPr>
            <p:ph type="title"/>
          </p:nvPr>
        </p:nvSpPr>
        <p:spPr/>
        <p:txBody>
          <a:bodyPr/>
          <a:lstStyle/>
          <a:p>
            <a:r>
              <a:rPr lang="en-US" dirty="0" smtClean="0"/>
              <a:t>References</a:t>
            </a:r>
            <a:endParaRPr lang="en-IN" dirty="0"/>
          </a:p>
        </p:txBody>
      </p:sp>
    </p:spTree>
    <p:extLst>
      <p:ext uri="{BB962C8B-B14F-4D97-AF65-F5344CB8AC3E}">
        <p14:creationId xmlns:p14="http://schemas.microsoft.com/office/powerpoint/2010/main" val="103154962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IN" dirty="0"/>
          </a:p>
        </p:txBody>
      </p:sp>
      <p:sp>
        <p:nvSpPr>
          <p:cNvPr id="3" name="Title 2"/>
          <p:cNvSpPr>
            <a:spLocks noGrp="1"/>
          </p:cNvSpPr>
          <p:nvPr>
            <p:ph type="title"/>
          </p:nvPr>
        </p:nvSpPr>
        <p:spPr/>
        <p:txBody>
          <a:bodyPr/>
          <a:lstStyle/>
          <a:p>
            <a:r>
              <a:rPr lang="en-US" dirty="0"/>
              <a:t>THANK </a:t>
            </a:r>
            <a:r>
              <a:rPr lang="en-US" dirty="0" smtClean="0"/>
              <a:t>YOU</a:t>
            </a:r>
            <a:endParaRPr lang="en-IN" dirty="0"/>
          </a:p>
        </p:txBody>
      </p:sp>
    </p:spTree>
    <p:extLst>
      <p:ext uri="{BB962C8B-B14F-4D97-AF65-F5344CB8AC3E}">
        <p14:creationId xmlns:p14="http://schemas.microsoft.com/office/powerpoint/2010/main" val="34821994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131</TotalTime>
  <Words>702</Words>
  <Application>Microsoft Office PowerPoint</Application>
  <PresentationFormat>On-screen Show (4:3)</PresentationFormat>
  <Paragraphs>100</Paragraphs>
  <Slides>45</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47" baseType="lpstr">
      <vt:lpstr>Hardcover</vt:lpstr>
      <vt:lpstr>Visio</vt:lpstr>
      <vt:lpstr>Educational White Board</vt:lpstr>
      <vt:lpstr>Project Need &amp; Idea</vt:lpstr>
      <vt:lpstr>Project Need &amp; Idea</vt:lpstr>
      <vt:lpstr>System Description</vt:lpstr>
      <vt:lpstr>Goals Of Implementation</vt:lpstr>
      <vt:lpstr>Environmental Characteristics</vt:lpstr>
      <vt:lpstr>Environmental Characteristics</vt:lpstr>
      <vt:lpstr>Technology Used</vt:lpstr>
      <vt:lpstr>Technology Used</vt:lpstr>
      <vt:lpstr>Process Model</vt:lpstr>
      <vt:lpstr>Process Model</vt:lpstr>
      <vt:lpstr>Activity Diagram- Admin</vt:lpstr>
      <vt:lpstr>Activity Diagram- Teacher</vt:lpstr>
      <vt:lpstr>Activity Diagram- Student</vt:lpstr>
      <vt:lpstr>DFD - 0</vt:lpstr>
      <vt:lpstr>DFD – 1_Admin</vt:lpstr>
      <vt:lpstr>DFD – 1_Teacher</vt:lpstr>
      <vt:lpstr>DFD – 1_Student</vt:lpstr>
      <vt:lpstr>Sequence Diagram</vt:lpstr>
      <vt:lpstr>ER Diagram</vt:lpstr>
      <vt:lpstr>Login Form</vt:lpstr>
      <vt:lpstr>Login Form- Blank</vt:lpstr>
      <vt:lpstr>Registration form - Student</vt:lpstr>
      <vt:lpstr>Registration form - Teacher</vt:lpstr>
      <vt:lpstr>Registration blank</vt:lpstr>
      <vt:lpstr>Registration phone no</vt:lpstr>
      <vt:lpstr>Registration Email</vt:lpstr>
      <vt:lpstr>Teacher Main Window</vt:lpstr>
      <vt:lpstr>Teacher File Menu</vt:lpstr>
      <vt:lpstr>Teacher Edit Menu</vt:lpstr>
      <vt:lpstr>Teacher Tools Menu</vt:lpstr>
      <vt:lpstr>Teacher Colour Menu</vt:lpstr>
      <vt:lpstr>Save On Exit</vt:lpstr>
      <vt:lpstr>Save File Menu</vt:lpstr>
      <vt:lpstr>Save File Menu - File choose</vt:lpstr>
      <vt:lpstr>Open File Menu</vt:lpstr>
      <vt:lpstr>Open File Menu - File chooser</vt:lpstr>
      <vt:lpstr>Admin Window</vt:lpstr>
      <vt:lpstr>Admin Window</vt:lpstr>
      <vt:lpstr>Student Window</vt:lpstr>
      <vt:lpstr>Student Window (Shared screen)</vt:lpstr>
      <vt:lpstr>Limitation &amp; Future Extension</vt:lpstr>
      <vt:lpstr>Conclusion</vt:lpstr>
      <vt:lpstr>References</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Educational White Board</dc:title>
  <dc:creator>shraddha</dc:creator>
  <cp:lastModifiedBy>YANK</cp:lastModifiedBy>
  <cp:revision>21</cp:revision>
  <dcterms:created xsi:type="dcterms:W3CDTF">2006-08-16T00:00:00Z</dcterms:created>
  <dcterms:modified xsi:type="dcterms:W3CDTF">2013-05-23T06:23:24Z</dcterms:modified>
</cp:coreProperties>
</file>